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02336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822960"/>
            <a:ext cx="2560320" cy="2560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2560320" cy="2560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0" b="1">
                <a:solidFill>
                  <a:srgbClr val="FFFFFF"/>
                </a:solidFill>
                <a:latin typeface="Segoe UI"/>
              </a:rPr>
              <a:t>QG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BEAFE"/>
                </a:solidFill>
                <a:latin typeface="Segoe UI"/>
              </a:rPr>
              <a:t>СБЕРХАКАТОН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6908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DBEAFE"/>
                </a:solidFill>
                <a:latin typeface="Segoe UI"/>
              </a:rPr>
              <a:t>MVP · Pitch deck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554480"/>
            <a:ext cx="7315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>
                <a:solidFill>
                  <a:srgbClr val="1E3A8A"/>
                </a:solidFill>
                <a:latin typeface="Segoe UI"/>
              </a:rPr>
              <a:t>QuizGen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56032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34155"/>
                </a:solidFill>
                <a:latin typeface="Segoe UI"/>
              </a:rPr>
              <a:t>AI-генератор викторин для учителей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3383280"/>
            <a:ext cx="640080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3657600"/>
            <a:ext cx="73152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64748B"/>
                </a:solidFill>
                <a:latin typeface="Segoe UI"/>
              </a:rPr>
              <a:t>Загружаешь учебный материал —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64748B"/>
                </a:solidFill>
                <a:latin typeface="Segoe UI"/>
              </a:rPr>
              <a:t>GigaChat генерирует квиз.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64748B"/>
                </a:solidFill>
                <a:latin typeface="Segoe UI"/>
              </a:rPr>
              <a:t>Ученики проходят его по ссылке.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64748B"/>
                </a:solidFill>
                <a:latin typeface="Segoe UI"/>
              </a:rPr>
              <a:t>Учитель получает аналитику.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5486400"/>
            <a:ext cx="1069848" cy="32004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1E3A8A"/>
                </a:solidFill>
                <a:latin typeface="Segoe UI"/>
              </a:rPr>
              <a:t>Go 1.22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33288" y="5486400"/>
            <a:ext cx="1170432" cy="32004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1E3A8A"/>
                </a:solidFill>
                <a:latin typeface="Segoe UI"/>
              </a:rPr>
              <a:t>React 18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95160" y="548640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1E3A8A"/>
                </a:solidFill>
                <a:latin typeface="Segoe UI"/>
              </a:rPr>
              <a:t>PostgreSQL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58200" y="5486400"/>
            <a:ext cx="1170432" cy="32004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1E3A8A"/>
                </a:solidFill>
                <a:latin typeface="Segoe UI"/>
              </a:rPr>
              <a:t>GigaChat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20072" y="5486400"/>
            <a:ext cx="969264" cy="32004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1E3A8A"/>
                </a:solidFill>
                <a:latin typeface="Segoe UI"/>
              </a:rPr>
              <a:t>Docker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4114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Segoe UI"/>
              </a:rPr>
              <a:t>Почему учителям нужен новый инструмент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1042416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2563EB"/>
                </a:solidFill>
                <a:latin typeface="Segoe UI"/>
              </a:rPr>
              <a:t>▍  </a:t>
            </a:r>
            <a:r>
              <a:rPr sz="2000" b="0">
                <a:solidFill>
                  <a:srgbClr val="334155"/>
                </a:solidFill>
                <a:latin typeface="Segoe UI"/>
              </a:rPr>
              <a:t>Учителя тратят </a:t>
            </a:r>
            <a:r>
              <a:rPr sz="2000" b="1">
                <a:solidFill>
                  <a:srgbClr val="0F172A"/>
                </a:solidFill>
                <a:latin typeface="Segoe UI"/>
              </a:rPr>
              <a:t>часы</a:t>
            </a:r>
            <a:r>
              <a:rPr sz="2000" b="0">
                <a:solidFill>
                  <a:srgbClr val="334155"/>
                </a:solidFill>
                <a:latin typeface="Segoe UI"/>
              </a:rPr>
              <a:t> на составление контрольных и проверок по каждому новому материалу.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2563EB"/>
                </a:solidFill>
                <a:latin typeface="Segoe UI"/>
              </a:rPr>
              <a:t>▍  </a:t>
            </a:r>
            <a:r>
              <a:rPr sz="2000" b="0">
                <a:solidFill>
                  <a:srgbClr val="334155"/>
                </a:solidFill>
                <a:latin typeface="Segoe UI"/>
              </a:rPr>
              <a:t>Готовые сервисы (Kahoot, Quizlet) требуют </a:t>
            </a:r>
            <a:r>
              <a:rPr sz="2000" b="1">
                <a:solidFill>
                  <a:srgbClr val="0F172A"/>
                </a:solidFill>
                <a:latin typeface="Segoe UI"/>
              </a:rPr>
              <a:t>ручного ввода</a:t>
            </a:r>
            <a:r>
              <a:rPr sz="2000" b="0">
                <a:solidFill>
                  <a:srgbClr val="334155"/>
                </a:solidFill>
                <a:latin typeface="Segoe UI"/>
              </a:rPr>
              <a:t> вопросов и ответов.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2563EB"/>
                </a:solidFill>
                <a:latin typeface="Segoe UI"/>
              </a:rPr>
              <a:t>▍  </a:t>
            </a:r>
            <a:r>
              <a:rPr sz="2000" b="0">
                <a:solidFill>
                  <a:srgbClr val="334155"/>
                </a:solidFill>
                <a:latin typeface="Segoe UI"/>
              </a:rPr>
              <a:t>Нет связки «материал → квиз → аналитика по классу» в </a:t>
            </a:r>
            <a:r>
              <a:rPr sz="2000" b="1">
                <a:solidFill>
                  <a:srgbClr val="0F172A"/>
                </a:solidFill>
                <a:latin typeface="Segoe UI"/>
              </a:rPr>
              <a:t>один клик</a:t>
            </a:r>
            <a:r>
              <a:rPr sz="2000" b="0">
                <a:solidFill>
                  <a:srgbClr val="334155"/>
                </a:solidFill>
                <a:latin typeface="Segoe UI"/>
              </a:rPr>
              <a:t>.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2563EB"/>
                </a:solidFill>
                <a:latin typeface="Segoe UI"/>
              </a:rPr>
              <a:t>▍  </a:t>
            </a:r>
            <a:r>
              <a:rPr sz="2000" b="0">
                <a:solidFill>
                  <a:srgbClr val="334155"/>
                </a:solidFill>
                <a:latin typeface="Segoe UI"/>
              </a:rPr>
              <a:t>Антишпаргалка и индивидуальные ссылки — </a:t>
            </a:r>
            <a:r>
              <a:rPr sz="2000" b="1">
                <a:solidFill>
                  <a:srgbClr val="0F172A"/>
                </a:solidFill>
                <a:latin typeface="Segoe UI"/>
              </a:rPr>
              <a:t>отдельная боль</a:t>
            </a:r>
            <a:r>
              <a:rPr sz="2000" b="0">
                <a:solidFill>
                  <a:srgbClr val="334155"/>
                </a:solidFill>
                <a:latin typeface="Segoe UI"/>
              </a:rPr>
              <a:t> на стороне учителя.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212080"/>
            <a:ext cx="10424160" cy="9144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68680" y="5212080"/>
            <a:ext cx="109728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5212080"/>
            <a:ext cx="99669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E3A8A"/>
                </a:solidFill>
                <a:latin typeface="Segoe UI"/>
              </a:rPr>
              <a:t>Нужно: загрузил PDF — получил готовый квиз с разбором и статистикой.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4114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Решение — QuizGen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Segoe UI"/>
              </a:rPr>
              <a:t>Закрываем весь цикл: создание → раздача → аналитика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68680" y="1828800"/>
            <a:ext cx="5212080" cy="384048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68680" y="1828800"/>
            <a:ext cx="52120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1828800"/>
            <a:ext cx="52120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Segoe UI"/>
              </a:rPr>
              <a:t>Для учителя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60320"/>
            <a:ext cx="475488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Генерация из </a:t>
            </a:r>
            <a:r>
              <a:rPr sz="1500" b="1">
                <a:solidFill>
                  <a:srgbClr val="0F172A"/>
                </a:solidFill>
                <a:latin typeface="Segoe UI"/>
              </a:rPr>
              <a:t>PDF / DOCX / PPTX / TXT / MD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Настройка сложности, тона, уровня Блума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Персональные ссылки и </a:t>
            </a:r>
            <a:r>
              <a:rPr sz="1500" b="1">
                <a:solidFill>
                  <a:srgbClr val="0F172A"/>
                </a:solidFill>
                <a:latin typeface="Segoe UI"/>
              </a:rPr>
              <a:t>QR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Полная аналитика и </a:t>
            </a:r>
            <a:r>
              <a:rPr sz="1500" b="1">
                <a:solidFill>
                  <a:srgbClr val="0F172A"/>
                </a:solidFill>
                <a:latin typeface="Segoe UI"/>
              </a:rPr>
              <a:t>CSV-экспорт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Печатная версия — с ключом или без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828800"/>
            <a:ext cx="5212080" cy="384048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46520" y="1828800"/>
            <a:ext cx="5212080" cy="50292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20840" y="1828800"/>
            <a:ext cx="52120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Segoe UI"/>
              </a:rPr>
              <a:t>Для ученика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560320"/>
            <a:ext cx="475488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Открыть ссылку с телефона или </a:t>
            </a:r>
            <a:r>
              <a:rPr sz="1500" b="1">
                <a:solidFill>
                  <a:srgbClr val="0F172A"/>
                </a:solidFill>
                <a:latin typeface="Segoe UI"/>
              </a:rPr>
              <a:t>QR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Представиться по имени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Пройти квиз с </a:t>
            </a:r>
            <a:r>
              <a:rPr sz="1500" b="1">
                <a:solidFill>
                  <a:srgbClr val="0F172A"/>
                </a:solidFill>
                <a:latin typeface="Segoe UI"/>
              </a:rPr>
              <a:t>прогресс-баром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Получить процент правильных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Антишпаргалка работает </a:t>
            </a:r>
            <a:r>
              <a:rPr sz="1500" b="1">
                <a:solidFill>
                  <a:srgbClr val="0F172A"/>
                </a:solidFill>
                <a:latin typeface="Segoe UI"/>
              </a:rPr>
              <a:t>в фоне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5943600"/>
            <a:ext cx="1170432" cy="32004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200" b="1">
                <a:solidFill>
                  <a:srgbClr val="1E3A8A"/>
                </a:solidFill>
                <a:latin typeface="Segoe UI"/>
              </a:rPr>
              <a:t>PDF→Quiz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30552" y="5943600"/>
            <a:ext cx="1271016" cy="32004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200" b="1">
                <a:solidFill>
                  <a:srgbClr val="1E3A8A"/>
                </a:solidFill>
                <a:latin typeface="Segoe UI"/>
              </a:rPr>
              <a:t>QR-ссылки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93008" y="5943600"/>
            <a:ext cx="1673352" cy="32004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200" b="1">
                <a:solidFill>
                  <a:srgbClr val="1E3A8A"/>
                </a:solidFill>
                <a:latin typeface="Segoe UI"/>
              </a:rPr>
              <a:t>Антишпаргалка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7800" y="5943600"/>
            <a:ext cx="1472184" cy="32004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200" b="1">
                <a:solidFill>
                  <a:srgbClr val="1E3A8A"/>
                </a:solidFill>
                <a:latin typeface="Segoe UI"/>
              </a:rPr>
              <a:t>CSV-экспорт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1424" y="5943600"/>
            <a:ext cx="969264" cy="32004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200" b="1">
                <a:solidFill>
                  <a:srgbClr val="1E3A8A"/>
                </a:solidFill>
                <a:latin typeface="Segoe UI"/>
              </a:rPr>
              <a:t>Печать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4114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Флоу учителя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Segoe UI"/>
              </a:rPr>
              <a:t>От регистрации до раздачи квиза за минуту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2099462" cy="402336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2099462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85800" y="2240280"/>
            <a:ext cx="777240" cy="7772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7772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00400"/>
            <a:ext cx="173370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3A8A"/>
                </a:solidFill>
                <a:latin typeface="Segoe UI"/>
              </a:rPr>
              <a:t>Регистрация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03320"/>
            <a:ext cx="1733702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Email + пароль →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JWT-токен.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6974" y="1920240"/>
            <a:ext cx="2099462" cy="402336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66974" y="1920240"/>
            <a:ext cx="2099462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949854" y="2240280"/>
            <a:ext cx="777240" cy="7772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49854" y="2240280"/>
            <a:ext cx="7772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9854" y="3200400"/>
            <a:ext cx="173370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3A8A"/>
                </a:solidFill>
                <a:latin typeface="Segoe UI"/>
              </a:rPr>
              <a:t>Создать квиз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9854" y="3703320"/>
            <a:ext cx="1733702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Тема, класс,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сложность, тон.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Можно прикрепить файл.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31028" y="1920240"/>
            <a:ext cx="2099462" cy="402336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31028" y="1920240"/>
            <a:ext cx="2099462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213908" y="2240280"/>
            <a:ext cx="777240" cy="7772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13908" y="2240280"/>
            <a:ext cx="7772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3908" y="3200400"/>
            <a:ext cx="173370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3A8A"/>
                </a:solidFill>
                <a:latin typeface="Segoe UI"/>
              </a:rPr>
              <a:t>Генерация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3908" y="3703320"/>
            <a:ext cx="1733702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GigaChat возвращает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JSON, сохраняется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в Postgres.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5082" y="1920240"/>
            <a:ext cx="2099462" cy="402336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295082" y="1920240"/>
            <a:ext cx="2099462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477962" y="2240280"/>
            <a:ext cx="777240" cy="7772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77962" y="2240280"/>
            <a:ext cx="7772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7962" y="3200400"/>
            <a:ext cx="173370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3A8A"/>
                </a:solidFill>
                <a:latin typeface="Segoe UI"/>
              </a:rPr>
              <a:t>Редактор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77962" y="3703320"/>
            <a:ext cx="1733702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Правка вопросов,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перегенерация одного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вопроса отдельно.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59136" y="1920240"/>
            <a:ext cx="2099462" cy="402336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559136" y="1920240"/>
            <a:ext cx="2099462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9742016" y="2240280"/>
            <a:ext cx="777240" cy="7772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742016" y="2240280"/>
            <a:ext cx="7772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42016" y="3200400"/>
            <a:ext cx="173370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3A8A"/>
                </a:solidFill>
                <a:latin typeface="Segoe UI"/>
              </a:rPr>
              <a:t>Publish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42016" y="3703320"/>
            <a:ext cx="1733702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Персональные ссылки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и QR-коды для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каждого ученика.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172200"/>
            <a:ext cx="11155680" cy="36576"/>
          </a:xfrm>
          <a:prstGeom prst="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4114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Флоу ученика и антишпаргалка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Segoe UI"/>
              </a:rPr>
              <a:t>Прохождение и защита от списывания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E3A8A"/>
                </a:solidFill>
                <a:latin typeface="Segoe UI"/>
              </a:rPr>
              <a:t>Что видит ученик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54864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Открывает </a:t>
            </a:r>
            <a:r>
              <a:rPr sz="1500" b="1">
                <a:solidFill>
                  <a:srgbClr val="0F172A"/>
                </a:solidFill>
                <a:latin typeface="Segoe UI"/>
              </a:rPr>
              <a:t>/play/:token</a:t>
            </a:r>
            <a:r>
              <a:rPr sz="1500" b="0">
                <a:solidFill>
                  <a:srgbClr val="334155"/>
                </a:solidFill>
                <a:latin typeface="Segoe UI"/>
              </a:rPr>
              <a:t> или сканирует QR.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Вводит фамилию и имя — учитель будет знать, кто проходил.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Отвечает: single / multiple / true-false.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500" b="1">
                <a:solidFill>
                  <a:srgbClr val="0F172A"/>
                </a:solidFill>
                <a:latin typeface="Segoe UI"/>
              </a:rPr>
              <a:t>Прогресс-бар</a:t>
            </a:r>
            <a:r>
              <a:rPr sz="1500" b="0">
                <a:solidFill>
                  <a:srgbClr val="334155"/>
                </a:solidFill>
                <a:latin typeface="Segoe UI"/>
              </a:rPr>
              <a:t> и мобильная адаптивность.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Финальный экран с процентом правильных.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E3A8A"/>
                </a:solidFill>
                <a:latin typeface="Segoe UI"/>
              </a:rPr>
              <a:t>Что делает антишпаргалка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3774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▍  </a:t>
            </a:r>
            <a:r>
              <a:rPr sz="1500" b="1">
                <a:solidFill>
                  <a:srgbClr val="0F172A"/>
                </a:solidFill>
                <a:latin typeface="Segoe UI"/>
              </a:rPr>
              <a:t>blur + visibilitychange</a:t>
            </a:r>
            <a:r>
              <a:rPr sz="1500" b="0">
                <a:solidFill>
                  <a:srgbClr val="334155"/>
                </a:solidFill>
                <a:latin typeface="Segoe UI"/>
              </a:rPr>
              <a:t> — детект перехода вкладок.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Блок </a:t>
            </a:r>
            <a:r>
              <a:rPr sz="1500" b="1">
                <a:solidFill>
                  <a:srgbClr val="0F172A"/>
                </a:solidFill>
                <a:latin typeface="Segoe UI"/>
              </a:rPr>
              <a:t>copy / cut / paste / contextmenu</a:t>
            </a:r>
            <a:r>
              <a:rPr sz="1500" b="0">
                <a:solidFill>
                  <a:srgbClr val="334155"/>
                </a:solidFill>
                <a:latin typeface="Segoe UI"/>
              </a:rPr>
              <a:t>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▍  </a:t>
            </a:r>
            <a:r>
              <a:rPr sz="1500" b="1">
                <a:solidFill>
                  <a:srgbClr val="0F172A"/>
                </a:solidFill>
                <a:latin typeface="Segoe UI"/>
              </a:rPr>
              <a:t>Счётчик нарушений</a:t>
            </a:r>
            <a:r>
              <a:rPr sz="1500" b="0">
                <a:solidFill>
                  <a:srgbClr val="334155"/>
                </a:solidFill>
                <a:latin typeface="Segoe UI"/>
              </a:rPr>
              <a:t> уходит на бэк.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Учитель видит количество переключений в отчёте.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Предупреждение появляется прямо в квизе.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4114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Аналитика для учителя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Segoe UI"/>
              </a:rPr>
              <a:t>Сразу видно, какие темы провалил класс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2011680"/>
            <a:ext cx="2084832" cy="237744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2011680"/>
            <a:ext cx="73152" cy="2377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17190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3A8A"/>
                </a:solidFill>
                <a:latin typeface="Segoe UI"/>
              </a:rPr>
              <a:t>Гистограмма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171907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Распределение баллов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по группе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70632" y="2011680"/>
            <a:ext cx="2084832" cy="237744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70632" y="2011680"/>
            <a:ext cx="73152" cy="2377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99232" y="2286000"/>
            <a:ext cx="17190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3A8A"/>
                </a:solidFill>
                <a:latin typeface="Segoe UI"/>
              </a:rPr>
              <a:t>Таблица учеников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232" y="2880360"/>
            <a:ext cx="171907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Имя, балл, статус,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число нарушений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38344" y="2011680"/>
            <a:ext cx="2084832" cy="237744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38344" y="2011680"/>
            <a:ext cx="73152" cy="2377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66944" y="2286000"/>
            <a:ext cx="17190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3A8A"/>
                </a:solidFill>
                <a:latin typeface="Segoe UI"/>
              </a:rPr>
              <a:t>Детали попытки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2880360"/>
            <a:ext cx="171907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Что выбрал ученик и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какие ответы правильные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06056" y="2011680"/>
            <a:ext cx="2084832" cy="237744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06056" y="2011680"/>
            <a:ext cx="73152" cy="2377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34656" y="2286000"/>
            <a:ext cx="17190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3A8A"/>
                </a:solidFill>
                <a:latin typeface="Segoe UI"/>
              </a:rPr>
              <a:t>CSV-экспорт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880360"/>
            <a:ext cx="171907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UTF-8 + BOM —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откроется в Excel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73768" y="2011680"/>
            <a:ext cx="2084832" cy="237744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573768" y="2011680"/>
            <a:ext cx="73152" cy="2377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02368" y="2286000"/>
            <a:ext cx="17190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3A8A"/>
                </a:solidFill>
                <a:latin typeface="Segoe UI"/>
              </a:rPr>
              <a:t>Печать квиза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02368" y="2880360"/>
            <a:ext cx="171907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С ключом ответов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4155"/>
                </a:solidFill>
                <a:latin typeface="Segoe UI"/>
              </a:rPr>
              <a:t>или без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4937760"/>
            <a:ext cx="10424160" cy="10058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88720" y="49377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FFFFFF"/>
                </a:solidFill>
                <a:latin typeface="Segoe UI"/>
              </a:rPr>
              <a:t>«Учитель сразу видит, какие темы провалил класс — не точечно отдельный ученик».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4114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Технологический стек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Segoe UI"/>
              </a:rPr>
              <a:t>Современный, проверенный, ничего лишнего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8680" y="1783080"/>
          <a:ext cx="104241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Слой</a:t>
                      </a:r>
                    </a:p>
                  </a:txBody>
                  <a:tcPr marL="164592" marR="164592" marT="73152" marB="73152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Технологии</a:t>
                      </a:r>
                    </a:p>
                  </a:txBody>
                  <a:tcPr marL="164592" marR="164592" marT="73152" marB="73152"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Segoe UI"/>
                        </a:rPr>
                        <a:t>Backend</a:t>
                      </a:r>
                    </a:p>
                  </a:txBody>
                  <a:tcPr marL="164592" marR="164592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Segoe UI"/>
                        </a:rPr>
                        <a:t>Go 1.22 · Gin · golang-migrate · lib/pq</a:t>
                      </a:r>
                    </a:p>
                  </a:txBody>
                  <a:tcPr marL="164592" marR="164592" marT="54864" marB="5486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Segoe UI"/>
                        </a:rPr>
                        <a:t>Database</a:t>
                      </a:r>
                    </a:p>
                  </a:txBody>
                  <a:tcPr marL="164592" marR="164592" marT="54864" marB="54864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Segoe UI"/>
                        </a:rPr>
                        <a:t>PostgreSQL 16</a:t>
                      </a:r>
                    </a:p>
                  </a:txBody>
                  <a:tcPr marL="164592" marR="164592" marT="54864" marB="54864"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Segoe UI"/>
                        </a:rPr>
                        <a:t>LLM</a:t>
                      </a:r>
                    </a:p>
                  </a:txBody>
                  <a:tcPr marL="164592" marR="164592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Segoe UI"/>
                        </a:rPr>
                        <a:t>GigaChat (Sber) — OAuth + REST · fallback: Anthropic / OpenAI</a:t>
                      </a:r>
                    </a:p>
                  </a:txBody>
                  <a:tcPr marL="164592" marR="164592" marT="54864" marB="5486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Segoe UI"/>
                        </a:rPr>
                        <a:t>Frontend</a:t>
                      </a:r>
                    </a:p>
                  </a:txBody>
                  <a:tcPr marL="164592" marR="164592" marT="54864" marB="54864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Segoe UI"/>
                        </a:rPr>
                        <a:t>React 18 · TypeScript · Vite · TailwindCSS · React Router</a:t>
                      </a:r>
                    </a:p>
                  </a:txBody>
                  <a:tcPr marL="164592" marR="164592" marT="54864" marB="54864"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Segoe UI"/>
                        </a:rPr>
                        <a:t>Charts</a:t>
                      </a:r>
                    </a:p>
                  </a:txBody>
                  <a:tcPr marL="164592" marR="164592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Segoe UI"/>
                        </a:rPr>
                        <a:t>Recharts</a:t>
                      </a:r>
                    </a:p>
                  </a:txBody>
                  <a:tcPr marL="164592" marR="164592" marT="54864" marB="5486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Segoe UI"/>
                        </a:rPr>
                        <a:t>QR</a:t>
                      </a:r>
                    </a:p>
                  </a:txBody>
                  <a:tcPr marL="164592" marR="164592" marT="54864" marB="54864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Segoe UI"/>
                        </a:rPr>
                        <a:t>qrcode.react</a:t>
                      </a:r>
                    </a:p>
                  </a:txBody>
                  <a:tcPr marL="164592" marR="164592" marT="54864" marB="54864"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Segoe UI"/>
                        </a:rPr>
                        <a:t>Парсинг</a:t>
                      </a:r>
                    </a:p>
                  </a:txBody>
                  <a:tcPr marL="164592" marR="164592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Segoe UI"/>
                        </a:rPr>
                        <a:t>pdfcpu · archive/zip + XML (DOCX/PPTX)</a:t>
                      </a:r>
                    </a:p>
                  </a:txBody>
                  <a:tcPr marL="164592" marR="164592" marT="54864" marB="5486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Segoe UI"/>
                        </a:rPr>
                        <a:t>DevOps</a:t>
                      </a:r>
                    </a:p>
                  </a:txBody>
                  <a:tcPr marL="164592" marR="164592" marT="54864" marB="54864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Segoe UI"/>
                        </a:rPr>
                        <a:t>Docker · docker-compose (multi-stage build)</a:t>
                      </a:r>
                    </a:p>
                  </a:txBody>
                  <a:tcPr marL="164592" marR="164592" marT="54864" marB="54864"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4114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Segoe UI"/>
              </a:rPr>
              <a:t>Слоистая: Handlers → Services → Repositories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68680" y="1828800"/>
            <a:ext cx="10424160" cy="3931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228600" bIns="164592" rtlCol="0" anchor="ctr"/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┌──────────────┐      HTTPS       ┌──────────────────────┐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│   Browser    │ ───────────────► │   Go (Gin) :8080     │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│  (React SPA) │                  │  ┌────────────────┐  │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└──────────────┘                  │  │   Handlers     │  │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                                  │  └────────┬───────┘  │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                                  │  ┌────────▼───────┐  │     ┌─────────────┐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                                  │  │   Services     │──┼────►│  GigaChat   │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                                  │  └────────┬───────┘  │     │  (LLM API)  │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                                  │  ┌────────▼───────┐  │     └─────────────┘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                                  │  │ Repositories   │  │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                                  │  └────────┬───────┘  │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                                  └───────────┼──────────┘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                                  ┌───────────▼──────────┐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                                  │   PostgreSQL :5432   │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                                  └──────────────────────┘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94360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Segoe UI"/>
              </a:rPr>
              <a:t>Чисто разделено: HTTP-роутинг, бизнес-логика, доступ к данным. Меняется в одиночку, тестируется в одиночку.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4114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LLM-интеграция (GigaChat)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Segoe UI"/>
              </a:rPr>
              <a:t>Промпт-инжиниринг, парсинг JSON, санитайзинг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104241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600" b="1">
                <a:solidFill>
                  <a:srgbClr val="0F172A"/>
                </a:solidFill>
                <a:latin typeface="Segoe UI"/>
              </a:rPr>
              <a:t>OAuth flow</a:t>
            </a:r>
            <a:r>
              <a:rPr sz="1600" b="0">
                <a:solidFill>
                  <a:srgbClr val="334155"/>
                </a:solidFill>
                <a:latin typeface="Segoe UI"/>
              </a:rPr>
              <a:t>: получаем токен по Authorization-Key, кешируем до expires_at.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600" b="1">
                <a:solidFill>
                  <a:srgbClr val="0F172A"/>
                </a:solidFill>
                <a:latin typeface="Segoe UI"/>
              </a:rPr>
              <a:t>Жёсткий промпт</a:t>
            </a:r>
            <a:r>
              <a:rPr sz="1600" b="0">
                <a:solidFill>
                  <a:srgbClr val="334155"/>
                </a:solidFill>
                <a:latin typeface="Segoe UI"/>
              </a:rPr>
              <a:t>: явная JSON-схема, правила для каждого типа вопроса, поддержка таксономии Блума.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600" b="1">
                <a:solidFill>
                  <a:srgbClr val="0F172A"/>
                </a:solidFill>
                <a:latin typeface="Segoe UI"/>
              </a:rPr>
              <a:t>Парсинг ответа</a:t>
            </a:r>
            <a:r>
              <a:rPr sz="1600" b="0">
                <a:solidFill>
                  <a:srgbClr val="334155"/>
                </a:solidFill>
                <a:latin typeface="Segoe UI"/>
              </a:rPr>
              <a:t>: срезаем ```json``` обёртки, чиним «висячие» запятые stripTrailingCommas.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600" b="1">
                <a:solidFill>
                  <a:srgbClr val="0F172A"/>
                </a:solidFill>
                <a:latin typeface="Segoe UI"/>
              </a:rPr>
              <a:t>sanitizeUTF8</a:t>
            </a:r>
            <a:r>
              <a:rPr sz="1600" b="0">
                <a:solidFill>
                  <a:srgbClr val="334155"/>
                </a:solidFill>
                <a:latin typeface="Segoe UI"/>
              </a:rPr>
              <a:t>: маппим Windows-1252 → UTF-8, выкидываем NUL-байты — иначе Postgres ругается.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600" b="1">
                <a:solidFill>
                  <a:srgbClr val="0F172A"/>
                </a:solidFill>
                <a:latin typeface="Segoe UI"/>
              </a:rPr>
              <a:t>Перегенерация одного вопроса</a:t>
            </a:r>
            <a:r>
              <a:rPr sz="1600" b="0">
                <a:solidFill>
                  <a:srgbClr val="334155"/>
                </a:solidFill>
                <a:latin typeface="Segoe UI"/>
              </a:rPr>
              <a:t>: отдельный промпт с контекстом и «избегай вот этой формулировки».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600" b="1">
                <a:solidFill>
                  <a:srgbClr val="0F172A"/>
                </a:solidFill>
                <a:latin typeface="Segoe UI"/>
              </a:rPr>
              <a:t>Провайдер абстрагирован</a:t>
            </a:r>
            <a:r>
              <a:rPr sz="1600" b="0">
                <a:solidFill>
                  <a:srgbClr val="334155"/>
                </a:solidFill>
                <a:latin typeface="Segoe UI"/>
              </a:rPr>
              <a:t>: можно переключить на Anthropic или OpenAI одной переменной окружения.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4114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Парсинг исходных материалов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Segoe UI"/>
              </a:rPr>
              <a:t>Учитель прикрепляет файл — извлекаем чистый текст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68680" y="1828800"/>
          <a:ext cx="104241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12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Формат</a:t>
                      </a:r>
                    </a:p>
                  </a:txBody>
                  <a:tcPr marL="164592" marR="164592" marT="73152" marB="73152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Метод</a:t>
                      </a:r>
                    </a:p>
                  </a:txBody>
                  <a:tcPr marL="164592" marR="164592" marT="73152" marB="73152"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Segoe UI"/>
                        </a:rPr>
                        <a:t>PDF</a:t>
                      </a:r>
                    </a:p>
                  </a:txBody>
                  <a:tcPr marL="164592" marR="164592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Segoe UI"/>
                        </a:rPr>
                        <a:t>pdfcpu — извлечение текстового слоя</a:t>
                      </a:r>
                    </a:p>
                  </a:txBody>
                  <a:tcPr marL="164592" marR="164592" marT="54864" marB="5486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Segoe UI"/>
                        </a:rPr>
                        <a:t>DOCX</a:t>
                      </a:r>
                    </a:p>
                  </a:txBody>
                  <a:tcPr marL="164592" marR="164592" marT="54864" marB="54864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Segoe UI"/>
                        </a:rPr>
                        <a:t>archive/zip → word/document.xml → парсинг</a:t>
                      </a:r>
                    </a:p>
                  </a:txBody>
                  <a:tcPr marL="164592" marR="164592" marT="54864" marB="54864"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Segoe UI"/>
                        </a:rPr>
                        <a:t>PPTX</a:t>
                      </a:r>
                    </a:p>
                  </a:txBody>
                  <a:tcPr marL="164592" marR="164592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Segoe UI"/>
                        </a:rPr>
                        <a:t>archive/zip → ppt/slides/*.xml → парсинг</a:t>
                      </a:r>
                    </a:p>
                  </a:txBody>
                  <a:tcPr marL="164592" marR="164592" marT="54864" marB="54864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Segoe UI"/>
                        </a:rPr>
                        <a:t>TXT/MD</a:t>
                      </a:r>
                    </a:p>
                  </a:txBody>
                  <a:tcPr marL="164592" marR="164592" marT="54864" marB="54864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Segoe UI"/>
                        </a:rPr>
                        <a:t>Прямое чтение</a:t>
                      </a:r>
                    </a:p>
                  </a:txBody>
                  <a:tcPr marL="164592" marR="164592" marT="54864" marB="54864"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8680" y="4754880"/>
            <a:ext cx="104241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Лимит размера: </a:t>
            </a:r>
            <a:r>
              <a:rPr sz="1500" b="1">
                <a:solidFill>
                  <a:srgbClr val="0F172A"/>
                </a:solidFill>
                <a:latin typeface="Segoe UI"/>
              </a:rPr>
              <a:t>10 МБ</a:t>
            </a:r>
            <a:r>
              <a:rPr sz="1500" b="0">
                <a:solidFill>
                  <a:srgbClr val="334155"/>
                </a:solidFill>
                <a:latin typeface="Segoe UI"/>
              </a:rPr>
              <a:t> (настраивается MAX_UPLOAD_SIZE_MB).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Текст обрезается до </a:t>
            </a:r>
            <a:r>
              <a:rPr sz="1500" b="1">
                <a:solidFill>
                  <a:srgbClr val="0F172A"/>
                </a:solidFill>
                <a:latin typeface="Segoe UI"/>
              </a:rPr>
              <a:t>6000 символов</a:t>
            </a:r>
            <a:r>
              <a:rPr sz="1500" b="0">
                <a:solidFill>
                  <a:srgbClr val="334155"/>
                </a:solidFill>
                <a:latin typeface="Segoe UI"/>
              </a:rPr>
              <a:t> для промпта.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500" b="0">
                <a:solidFill>
                  <a:srgbClr val="334155"/>
                </a:solidFill>
                <a:latin typeface="Segoe UI"/>
              </a:rPr>
              <a:t>Все тексты прогоняются через </a:t>
            </a:r>
            <a:r>
              <a:rPr sz="1500" b="1">
                <a:solidFill>
                  <a:srgbClr val="0F172A"/>
                </a:solidFill>
                <a:latin typeface="Segoe UI"/>
              </a:rPr>
              <a:t>sanitizeUTF8</a:t>
            </a:r>
            <a:r>
              <a:rPr sz="1500" b="0">
                <a:solidFill>
                  <a:srgbClr val="334155"/>
                </a:solidFill>
                <a:latin typeface="Segoe UI"/>
              </a:rPr>
              <a:t> перед записью в БД.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4114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Безопасность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Segoe UI"/>
              </a:rPr>
              <a:t>JWT, rate-limit, антишпаргалка, санитайзинг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68680" y="1828800"/>
            <a:ext cx="73152" cy="685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18288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1E3A8A"/>
                </a:solidFill>
                <a:latin typeface="Segoe UI"/>
              </a:rPr>
              <a:t>JWT (HMAC-SHA256)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34155"/>
                </a:solidFill>
                <a:latin typeface="Segoe UI"/>
              </a:rPr>
              <a:t>Подписаны APP_SECRET_KEY длиной 32+ символов. Срок жизни конфигурируется.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651760"/>
            <a:ext cx="73152" cy="685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65176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1E3A8A"/>
                </a:solidFill>
                <a:latin typeface="Segoe UI"/>
              </a:rPr>
              <a:t>Middleware Auth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017520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34155"/>
                </a:solidFill>
                <a:latin typeface="Segoe UI"/>
              </a:rPr>
              <a:t>Проверяет и валидность подписи, и существование пользователя в БД (защита от висячих сессий).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474720"/>
            <a:ext cx="73152" cy="685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34747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1E3A8A"/>
                </a:solidFill>
                <a:latin typeface="Segoe UI"/>
              </a:rPr>
              <a:t>Rate-limit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840480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34155"/>
                </a:solidFill>
                <a:latin typeface="Segoe UI"/>
              </a:rPr>
              <a:t>RATE_LIMIT_REQUESTS генераций в час на юзера — защита от слива квоты LLM.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297680"/>
            <a:ext cx="73152" cy="685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429768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1E3A8A"/>
                </a:solidFill>
                <a:latin typeface="Segoe UI"/>
              </a:rPr>
              <a:t>Антишпаргалка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663440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34155"/>
                </a:solidFill>
                <a:latin typeface="Segoe UI"/>
              </a:rPr>
              <a:t>visibility API + блокировка копипаста, счётчик нарушений уходит на бэк.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120640"/>
            <a:ext cx="73152" cy="685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" y="512064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1E3A8A"/>
                </a:solidFill>
                <a:latin typeface="Segoe UI"/>
              </a:rPr>
              <a:t>Санитайзинг данных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486400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34155"/>
                </a:solidFill>
                <a:latin typeface="Segoe UI"/>
              </a:rPr>
              <a:t>UTF-8 и NUL-байты чистятся перед записью — LLM не положит Postgres.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4114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Структура проекта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Segoe UI"/>
              </a:rPr>
              <a:t>Чистая Go-раскладка, фронт отдельно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68680" y="1828800"/>
            <a:ext cx="6858000" cy="42976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228600" bIns="164592" rtlCol="0" anchor="ctr"/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.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├── cmd/server/        # точка входа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├── internal/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│   ├── config/        # .env → struct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│   ├── db/            # коннект + миграции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│   ├── handlers/      # HTTP (Gin)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│   ├── middleware/    # Auth, RateLimit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│   ├── models/        # доменка + DTO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│   ├── parser/        # PDF / DOCX / PPTX → text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│   ├── repository/    # SQL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│   └── service/       # бизнес-логика + LLM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├── migrations/        # SQL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├── frontend/          # React SPA (Vite)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├── Dockerfile         # multi-stage: node → go → alpine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BEAFE"/>
                </a:solidFill>
                <a:latin typeface="Consolas"/>
              </a:rPr>
              <a:t>└── docker-compose.yaml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828800"/>
            <a:ext cx="3383280" cy="429768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828800"/>
            <a:ext cx="33832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1828800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Запуск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2468880"/>
            <a:ext cx="292608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Segoe UI"/>
              </a:rPr>
              <a:t>1. cp .env.example .env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Segoe UI"/>
              </a:rPr>
              <a:t>2. Вписать LLM_API_KEY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Segoe UI"/>
              </a:rPr>
              <a:t>3. docker compose up -d</a:t>
            </a:r>
          </a:p>
          <a:p>
            <a:pPr algn="l">
              <a:lnSpc>
                <a:spcPct val="140000"/>
              </a:lnSpc>
            </a:pPr>
            <a:endParaRPr sz="1300" b="0">
              <a:solidFill>
                <a:srgbClr val="334155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Segoe UI"/>
              </a:rPr>
              <a:t>→ http://localhost:8080</a:t>
            </a:r>
          </a:p>
          <a:p>
            <a:pPr algn="l">
              <a:lnSpc>
                <a:spcPct val="140000"/>
              </a:lnSpc>
            </a:pPr>
            <a:endParaRPr sz="1300" b="0">
              <a:solidFill>
                <a:srgbClr val="334155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Segoe UI"/>
              </a:rPr>
              <a:t>Контейнер сам прогоняет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Segoe UI"/>
              </a:rPr>
              <a:t>миграции при старте.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4114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Что уже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Segoe UI"/>
              </a:rPr>
              <a:t>MVP-чеклист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68680" y="1883664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88366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82880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4155"/>
                </a:solidFill>
                <a:latin typeface="Segoe UI"/>
              </a:rPr>
              <a:t>Регистрация и логин учителя (JWT)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340864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34086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28600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4155"/>
                </a:solidFill>
                <a:latin typeface="Segoe UI"/>
              </a:rPr>
              <a:t>Генерация квиза из текста или файла (PDF/DOCX/PPTX/TXT/MD)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2798064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279806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74320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4155"/>
                </a:solidFill>
                <a:latin typeface="Segoe UI"/>
              </a:rPr>
              <a:t>Тонкая настройка: сложность, тон, Блум, типы вопросов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3255264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25526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20040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4155"/>
                </a:solidFill>
                <a:latin typeface="Segoe UI"/>
              </a:rPr>
              <a:t>Редактор квиза + перегенерация одного вопроса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3712464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371246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365760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4155"/>
                </a:solidFill>
                <a:latin typeface="Segoe UI"/>
              </a:rPr>
              <a:t>Персональные ссылки + QR-коды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1883664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188366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182880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4155"/>
                </a:solidFill>
                <a:latin typeface="Segoe UI"/>
              </a:rPr>
              <a:t>Печатная версия — с ключом ответов и без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2340864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55080" y="234086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228600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4155"/>
                </a:solidFill>
                <a:latin typeface="Segoe UI"/>
              </a:rPr>
              <a:t>Прохождение учеником + антишпаргалка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2798064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55080" y="279806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80" y="274320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4155"/>
                </a:solidFill>
                <a:latin typeface="Segoe UI"/>
              </a:rPr>
              <a:t>Статистика: гистограмма, таблица, разбор попытки</a:t>
            </a:r>
          </a:p>
        </p:txBody>
      </p:sp>
      <p:sp>
        <p:nvSpPr>
          <p:cNvPr id="31" name="Oval 30"/>
          <p:cNvSpPr/>
          <p:nvPr/>
        </p:nvSpPr>
        <p:spPr>
          <a:xfrm>
            <a:off x="6355080" y="3255264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55080" y="325526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320040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4155"/>
                </a:solidFill>
                <a:latin typeface="Segoe UI"/>
              </a:rPr>
              <a:t>CSV-экспорт (Excel-friendly)</a:t>
            </a:r>
          </a:p>
        </p:txBody>
      </p:sp>
      <p:sp>
        <p:nvSpPr>
          <p:cNvPr id="34" name="Oval 33"/>
          <p:cNvSpPr/>
          <p:nvPr/>
        </p:nvSpPr>
        <p:spPr>
          <a:xfrm>
            <a:off x="6355080" y="3712464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371246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2280" y="365760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4155"/>
                </a:solidFill>
                <a:latin typeface="Segoe UI"/>
              </a:rPr>
              <a:t>Docker-развёртка одной командой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4114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Что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Segoe UI"/>
              </a:rPr>
              <a:t>Roadmap после хакатона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064240" cy="127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1042416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600" b="1">
                <a:solidFill>
                  <a:srgbClr val="0F172A"/>
                </a:solidFill>
                <a:latin typeface="Segoe UI"/>
              </a:rPr>
              <a:t>Адаптивная сложность</a:t>
            </a:r>
            <a:r>
              <a:rPr sz="1600" b="0">
                <a:solidFill>
                  <a:srgbClr val="334155"/>
                </a:solidFill>
                <a:latin typeface="Segoe UI"/>
              </a:rPr>
              <a:t> — следующий вопрос зависит от предыдущих.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600" b="1">
                <a:solidFill>
                  <a:srgbClr val="0F172A"/>
                </a:solidFill>
                <a:latin typeface="Segoe UI"/>
              </a:rPr>
              <a:t>Банк вопросов</a:t>
            </a:r>
            <a:r>
              <a:rPr sz="1600" b="0">
                <a:solidFill>
                  <a:srgbClr val="334155"/>
                </a:solidFill>
                <a:latin typeface="Segoe UI"/>
              </a:rPr>
              <a:t> учителя — переиспользование между квизами.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600" b="1">
                <a:solidFill>
                  <a:srgbClr val="0F172A"/>
                </a:solidFill>
                <a:latin typeface="Segoe UI"/>
              </a:rPr>
              <a:t>Классы и группы</a:t>
            </a:r>
            <a:r>
              <a:rPr sz="1600" b="0">
                <a:solidFill>
                  <a:srgbClr val="334155"/>
                </a:solidFill>
                <a:latin typeface="Segoe UI"/>
              </a:rPr>
              <a:t> — назначение квизов на список учеников.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600" b="1">
                <a:solidFill>
                  <a:srgbClr val="0F172A"/>
                </a:solidFill>
                <a:latin typeface="Segoe UI"/>
              </a:rPr>
              <a:t>Динамика по ученику</a:t>
            </a:r>
            <a:r>
              <a:rPr sz="1600" b="0">
                <a:solidFill>
                  <a:srgbClr val="334155"/>
                </a:solidFill>
                <a:latin typeface="Segoe UI"/>
              </a:rPr>
              <a:t> — прогресс по неделям и месяцам.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600" b="1">
                <a:solidFill>
                  <a:srgbClr val="0F172A"/>
                </a:solidFill>
                <a:latin typeface="Segoe UI"/>
              </a:rPr>
              <a:t>SSO</a:t>
            </a:r>
            <a:r>
              <a:rPr sz="1600" b="0">
                <a:solidFill>
                  <a:srgbClr val="334155"/>
                </a:solidFill>
                <a:latin typeface="Segoe UI"/>
              </a:rPr>
              <a:t> через школьные ID-провайдеры.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▍  </a:t>
            </a:r>
            <a:r>
              <a:rPr sz="1600" b="1">
                <a:solidFill>
                  <a:srgbClr val="0F172A"/>
                </a:solidFill>
                <a:latin typeface="Segoe UI"/>
              </a:rPr>
              <a:t>PWA / нативное приложение</a:t>
            </a:r>
            <a:r>
              <a:rPr sz="1600" b="0">
                <a:solidFill>
                  <a:srgbClr val="334155"/>
                </a:solidFill>
                <a:latin typeface="Segoe UI"/>
              </a:rPr>
              <a:t> для учеников.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212080"/>
            <a:ext cx="10424160" cy="1371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21208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Segoe UI"/>
              </a:rPr>
              <a:t>Спасибо!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1231</Words>
  <Application>Microsoft Office PowerPoint</Application>
  <PresentationFormat>Широкоэкранный</PresentationFormat>
  <Paragraphs>241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Calibri</vt:lpstr>
      <vt:lpstr>Consolas</vt:lpstr>
      <vt:lpstr>Segoe UI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Михаил Третьяков</cp:lastModifiedBy>
  <cp:revision>2</cp:revision>
  <dcterms:created xsi:type="dcterms:W3CDTF">2013-01-27T09:14:16Z</dcterms:created>
  <dcterms:modified xsi:type="dcterms:W3CDTF">2026-05-22T09:38:29Z</dcterms:modified>
  <cp:category/>
</cp:coreProperties>
</file>