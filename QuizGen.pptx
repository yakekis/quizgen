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2560320" cy="2560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256032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b="1">
                <a:solidFill>
                  <a:srgbClr val="FFFFFF"/>
                </a:solidFill>
                <a:latin typeface="Segoe UI"/>
              </a:rPr>
              <a:t>QG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BEAFE"/>
                </a:solidFill>
                <a:latin typeface="Segoe UI"/>
              </a:rPr>
              <a:t>СБЕРХАКАТОН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DBEAFE"/>
                </a:solidFill>
                <a:latin typeface="Segoe UI"/>
              </a:rPr>
              <a:t>ИИ для образования: автоматизация рутины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1E3A8A"/>
                </a:solidFill>
                <a:latin typeface="Segoe UI"/>
              </a:rPr>
              <a:t>QuizGen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334155"/>
                </a:solidFill>
                <a:latin typeface="Segoe UI"/>
              </a:rPr>
              <a:t>AI-генератор викторин для учителей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383280"/>
            <a:ext cx="6400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Segoe UI"/>
              </a:rPr>
              <a:t>Загружаешь учебный материал —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Segoe UI"/>
              </a:rPr>
              <a:t>GigaChat генерирует квиз.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Segoe UI"/>
              </a:rPr>
              <a:t>Ученики проходят его по ссылке.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Segoe UI"/>
              </a:rPr>
              <a:t>Учитель получает аналитику.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486400"/>
            <a:ext cx="1037844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E3A8A"/>
                </a:solidFill>
                <a:latin typeface="Segoe UI"/>
              </a:rPr>
              <a:t>Go 1.22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01284" y="5486400"/>
            <a:ext cx="1133856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E3A8A"/>
                </a:solidFill>
                <a:latin typeface="Segoe UI"/>
              </a:rPr>
              <a:t>React 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26580" y="548640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E3A8A"/>
                </a:solidFill>
                <a:latin typeface="Segoe UI"/>
              </a:rPr>
              <a:t>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3900" y="5486400"/>
            <a:ext cx="1133856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E3A8A"/>
                </a:solidFill>
                <a:latin typeface="Segoe UI"/>
              </a:rPr>
              <a:t>GigaChat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69196" y="5486400"/>
            <a:ext cx="941832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E3A8A"/>
                </a:solidFill>
                <a:latin typeface="Segoe UI"/>
              </a:rP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2 · КОМАНДА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Команда «QuizGen»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ФИО участников, распределение ролей и зон ответственности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874519"/>
          <a:ext cx="10424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4754880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Участник (ФИО)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Роль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Зона ответственности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Фамилия Имя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Backend / Tech Lead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Go-сервис, REST API, интеграция с GigaChat, БД, Docker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Фамилия Имя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React SPA, UI/UX, редактор квиза, плеер ученика, графики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Фамилия Имя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ML / Промпт-инжиниринг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Промпты, парсинг PDF/DOCX/PPTX, качество генерации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Фамилия Имя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Product / Дизайн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Продуктовое исследование, карточка прототипа, презентация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562356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623560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8A"/>
                </a:solidFill>
                <a:latin typeface="Segoe UI"/>
              </a:rPr>
              <a:t>⚠ Замените «Фамилия Имя» на реальные ФИО участников команды.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3 · ПРОБЛЕМА И ПОЛЬЗОВАТЕЛИ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Учитель тонет в рутине проверки знаний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Формулировка проблемы · целевая группа · сценарий столкновения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8A"/>
                </a:solidFill>
                <a:latin typeface="Segoe UI"/>
              </a:rPr>
              <a:t>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Составление проверочной по новому материалу — </a:t>
            </a:r>
            <a:r>
              <a:rPr sz="1400" b="1">
                <a:solidFill>
                  <a:srgbClr val="0F172A"/>
                </a:solidFill>
                <a:latin typeface="Segoe UI"/>
              </a:rPr>
              <a:t>1–2 часа</a:t>
            </a:r>
            <a:r>
              <a:rPr sz="1400" b="0">
                <a:solidFill>
                  <a:srgbClr val="334155"/>
                </a:solidFill>
                <a:latin typeface="Segoe UI"/>
              </a:rPr>
              <a:t> ручной работы.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Готовые сервисы требуют </a:t>
            </a:r>
            <a:r>
              <a:rPr sz="1400" b="1">
                <a:solidFill>
                  <a:srgbClr val="0F172A"/>
                </a:solidFill>
                <a:latin typeface="Segoe UI"/>
              </a:rPr>
              <a:t>ручного ввода</a:t>
            </a:r>
            <a:r>
              <a:rPr sz="1400" b="0">
                <a:solidFill>
                  <a:srgbClr val="334155"/>
                </a:solidFill>
                <a:latin typeface="Segoe UI"/>
              </a:rPr>
              <a:t> вопросов и ответов.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Нет связки «материал → квиз → аналитика класса» в один клик.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Раздать индивидуально и защитить от списывания — </a:t>
            </a:r>
            <a:r>
              <a:rPr sz="1400" b="1">
                <a:solidFill>
                  <a:srgbClr val="0F172A"/>
                </a:solidFill>
                <a:latin typeface="Segoe UI"/>
              </a:rPr>
              <a:t>отдельная боль</a:t>
            </a:r>
            <a:r>
              <a:rPr sz="1400" b="0">
                <a:solidFill>
                  <a:srgbClr val="334155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3A8A"/>
                </a:solidFill>
                <a:latin typeface="Segoe UI"/>
              </a:rPr>
              <a:t>Целевая группа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2286000"/>
            <a:ext cx="9144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F172A"/>
                </a:solidFill>
                <a:latin typeface="Segoe UI"/>
              </a:rPr>
              <a:t>Учитель школы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основной пользователь: создаёт и раздаёт квизы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2944368"/>
            <a:ext cx="9144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9443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F172A"/>
                </a:solidFill>
                <a:latin typeface="Segoe UI"/>
              </a:rPr>
              <a:t>Преподаватель СПО/вуза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2186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быстрые срезы знаний по лекции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3602736"/>
            <a:ext cx="9144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60273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F172A"/>
                </a:solidFill>
                <a:latin typeface="Segoe UI"/>
              </a:rPr>
              <a:t>Репетитор / тьютор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770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проверка после занятия, домашние тесты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4261104"/>
            <a:ext cx="9144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26110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F172A"/>
                </a:solidFill>
                <a:latin typeface="Segoe UI"/>
              </a:rPr>
              <a:t>Ученик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5354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проходит квиз по ссылке/QR с телефона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212080"/>
            <a:ext cx="10424160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3218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BEAFE"/>
                </a:solidFill>
                <a:latin typeface="Segoe UI"/>
              </a:rPr>
              <a:t>Сценарий столкновения с проблемой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6235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Вечер. Учителю нужен тест по новой главе на завтра. Он вручную выдумывает вопросы, верстает их, печатает варианты, потом вручную проверяет 30 работ — и всё равно не видит, какую тему провалил класс.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4 ·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QuizGen закрывает весь цикл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Идея сервиса · решение как способ достижения цели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1042416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83080"/>
            <a:ext cx="9966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Загрузил материал или задал тему → GigaChat сгенерировал квиз → раздал ученикам по ссылке/QR → получил аналитику с разбором.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880360"/>
            <a:ext cx="5212080" cy="27432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88036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3A8A"/>
                </a:solidFill>
                <a:latin typeface="Segoe UI"/>
              </a:rPr>
              <a:t>Для учителя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20440"/>
            <a:ext cx="46634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Генерация из </a:t>
            </a:r>
            <a:r>
              <a:rPr sz="1400" b="1">
                <a:solidFill>
                  <a:srgbClr val="0F172A"/>
                </a:solidFill>
                <a:latin typeface="Segoe UI"/>
              </a:rPr>
              <a:t>PDF / DOCX / PPTX / TXT / MD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Настройка: сложность, тон, уровень Блума, типы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Редактор + </a:t>
            </a:r>
            <a:r>
              <a:rPr sz="1400" b="1">
                <a:solidFill>
                  <a:srgbClr val="0F172A"/>
                </a:solidFill>
                <a:latin typeface="Segoe UI"/>
              </a:rPr>
              <a:t>перегенерация одного вопроса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Персональные ссылки и </a:t>
            </a:r>
            <a:r>
              <a:rPr sz="1400" b="1">
                <a:solidFill>
                  <a:srgbClr val="0F172A"/>
                </a:solidFill>
                <a:latin typeface="Segoe UI"/>
              </a:rPr>
              <a:t>QR</a:t>
            </a:r>
            <a:r>
              <a:rPr sz="1400" b="0">
                <a:solidFill>
                  <a:srgbClr val="334155"/>
                </a:solidFill>
                <a:latin typeface="Segoe UI"/>
              </a:rPr>
              <a:t>, печать с ключом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Аналитика по классу и </a:t>
            </a:r>
            <a:r>
              <a:rPr sz="1400" b="1">
                <a:solidFill>
                  <a:srgbClr val="0F172A"/>
                </a:solidFill>
                <a:latin typeface="Segoe UI"/>
              </a:rPr>
              <a:t>CSV-экспорт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880360"/>
            <a:ext cx="5212080" cy="27432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2880360"/>
            <a:ext cx="5212080" cy="7315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44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3A8A"/>
                </a:solidFill>
                <a:latin typeface="Segoe UI"/>
              </a:rPr>
              <a:t>Для ученика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520440"/>
            <a:ext cx="46634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Открыть ссылку с телефона или </a:t>
            </a:r>
            <a:r>
              <a:rPr sz="1400" b="1">
                <a:solidFill>
                  <a:srgbClr val="0F172A"/>
                </a:solidFill>
                <a:latin typeface="Segoe UI"/>
              </a:rPr>
              <a:t>QR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Представиться по имени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Пройти квиз с </a:t>
            </a:r>
            <a:r>
              <a:rPr sz="1400" b="1">
                <a:solidFill>
                  <a:srgbClr val="0F172A"/>
                </a:solidFill>
                <a:latin typeface="Segoe UI"/>
              </a:rPr>
              <a:t>прогресс-баром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Сразу увидеть процент правильных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Segoe UI"/>
              </a:rPr>
              <a:t>▍  </a:t>
            </a:r>
            <a:r>
              <a:rPr sz="1400" b="0">
                <a:solidFill>
                  <a:srgbClr val="334155"/>
                </a:solidFill>
                <a:latin typeface="Segoe UI"/>
              </a:rPr>
              <a:t>Честно: </a:t>
            </a:r>
            <a:r>
              <a:rPr sz="1400" b="1">
                <a:solidFill>
                  <a:srgbClr val="0F172A"/>
                </a:solidFill>
                <a:latin typeface="Segoe UI"/>
              </a:rPr>
              <a:t>антишпаргалка</a:t>
            </a:r>
            <a:r>
              <a:rPr sz="1400" b="0">
                <a:solidFill>
                  <a:srgbClr val="334155"/>
                </a:solidFill>
                <a:latin typeface="Segoe UI"/>
              </a:rPr>
              <a:t> работает в фоне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897880"/>
            <a:ext cx="1805940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/>
              </a:rPr>
              <a:t>~30 сек на квиз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66060" y="589788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/>
              </a:rPr>
              <a:t>5 форматов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83380" y="5897880"/>
            <a:ext cx="1229868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/>
              </a:rPr>
              <a:t>QR-ссылки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04688" y="5897880"/>
            <a:ext cx="1613916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/>
              </a:rPr>
              <a:t>Антишпаргалка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10044" y="5897880"/>
            <a:ext cx="653796" cy="3200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/>
              </a:rPr>
              <a:t>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4 · ПОЛЬЗОВАТЕЛЬСКИЙ ПУТЬ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Полный сценарий: от материала до статистики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Пошаговый путь по экранам интерфейса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2103120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7" y="2103120"/>
            <a:ext cx="208483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799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1 · Генерация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" y="2505456"/>
            <a:ext cx="177393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Тема / класс / сложность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Прикрепить файл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[ Сгенерировать 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59" y="3017520"/>
            <a:ext cx="146304" cy="4572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19" y="2103120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19" y="2103120"/>
            <a:ext cx="208483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1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2 · Редактор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1" y="2505456"/>
            <a:ext cx="177393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Список вопросов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Правка текста и ответов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↻ Перегенерировать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19471" y="3017520"/>
            <a:ext cx="146304" cy="4572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56631" y="2103120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56631" y="2103120"/>
            <a:ext cx="208483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3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3 · Раздача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3" y="2505456"/>
            <a:ext cx="177393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Publish → ссылки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QR на каждого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Печать с ключом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87183" y="3017520"/>
            <a:ext cx="146304" cy="4572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4343" y="2103120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3" y="2103120"/>
            <a:ext cx="2084832" cy="310896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5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4 · Плеер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5" y="2505456"/>
            <a:ext cx="177393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Вход по имени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Вопросы + прогресс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Антишпаргалка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54895" y="3017520"/>
            <a:ext cx="146304" cy="457200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92055" y="2103120"/>
            <a:ext cx="20848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92055" y="2103120"/>
            <a:ext cx="208483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7" y="2103120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5 · Аналитика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7" y="2505456"/>
            <a:ext cx="177393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Гистограмма баллов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Таблица учеников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Экспорт CSV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937760"/>
            <a:ext cx="10424160" cy="96012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493776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93776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Воспроизводимость полного сценария: ввод контекста и загрузка → генерация → редактирование → воспроизведение по ссылке → экспорт и статистика — без выхода из приложения.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4 · СРАВНЕНИЕ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Чем QuizGen отличается от аналогов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Сравнение существующих решений и предлагаемого сервиса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691640"/>
                <a:gridCol w="1463040"/>
                <a:gridCol w="1508760"/>
                <a:gridCol w="219456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Возможность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Kahoot /
Quizizz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Quizlet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Google
Forms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**QuizGen**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Авто-генерация из материала (PDF/DOCX/PPTX)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✓ GigaChat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Ввод вопросов вручную не требуется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Персональные ссылки + QR на ученика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частично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ручные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✓ авто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Антишпаргалка (вкладки, копипаст)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Аналитика с разбором попытки + CSV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базовая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базовая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базовая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детальная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Настройка по таксономии Блума и сложности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Self-hosted, данные у школы (Docker)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5 · ТЕХНИЧЕСКАЯ РЕАЛИЗАЦИЯ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Архитектура: клиент ↔ сервер ↔ LLM ↔ БД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Слоистый монолит на Go, фронт — отдельный SPA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2286000" cy="118872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28600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0779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E3A8A"/>
                </a:solidFill>
                <a:latin typeface="Segoe UI"/>
              </a:rPr>
              <a:t>Браузер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React SPA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(учитель + ученик)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3017520" y="3154680"/>
            <a:ext cx="777240" cy="411480"/>
          </a:xfrm>
          <a:prstGeom prst="left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8529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HTTPS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2148840"/>
            <a:ext cx="3657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240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8A"/>
                </a:solidFill>
                <a:latin typeface="Segoe UI"/>
              </a:rPr>
              <a:t>Go (Gin) :8080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697480"/>
            <a:ext cx="3108960" cy="530352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697480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334155"/>
                </a:solidFill>
                <a:latin typeface="Segoe UI"/>
              </a:rPr>
              <a:t>Handlers — HTTP-роутинг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714999" y="3227832"/>
            <a:ext cx="182880" cy="12801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3355847"/>
            <a:ext cx="3108960" cy="530352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3355847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334155"/>
                </a:solidFill>
                <a:latin typeface="Segoe UI"/>
              </a:rPr>
              <a:t>Services — бизнес-логика + LLM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714999" y="3886199"/>
            <a:ext cx="182880" cy="12801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4014216"/>
            <a:ext cx="3108960" cy="530352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4014216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334155"/>
                </a:solidFill>
                <a:latin typeface="Segoe UI"/>
              </a:rPr>
              <a:t>Repositories — доступ к БД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72400" y="2697480"/>
            <a:ext cx="7315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23957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64748B"/>
                </a:solidFill>
                <a:latin typeface="Segoe UI"/>
              </a:rPr>
              <a:t>OAuth/REST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423160"/>
            <a:ext cx="2743200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5877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GigaChat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0449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DBEAFE"/>
                </a:solidFill>
                <a:latin typeface="Segoe UI"/>
              </a:rPr>
              <a:t>LLM API (Sber)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DBEAFE"/>
                </a:solidFill>
                <a:latin typeface="Segoe UI"/>
              </a:rPr>
              <a:t>генерация квиза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72400" y="4069080"/>
            <a:ext cx="7315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7673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64748B"/>
                </a:solidFill>
                <a:latin typeface="Segoe UI"/>
              </a:rPr>
              <a:t>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3794760"/>
            <a:ext cx="2743200" cy="96012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3794760"/>
            <a:ext cx="274320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39593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3A8A"/>
                </a:solidFill>
                <a:latin typeface="Segoe UI"/>
              </a:rPr>
              <a:t>PostgreSQL :5432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416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квизы · сессии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Segoe UI"/>
              </a:rPr>
              <a:t>ответы · статистика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25780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Принцип: чистое разделение слоёв — HTTP-роутинг, бизнес-логика и доступ к данным развязаны, меняются и тестируются независимо. Провайдер LLM абстрагирован: GigaChat по умолчанию, fallback на Anthropic/OpenAI одной переменной окружения.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5 · ПОТОК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Как материал превращается в квиз и статистику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Диаграмма потока данных · интеграция с LLM · хранение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874519"/>
            <a:ext cx="1298448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874519"/>
            <a:ext cx="129844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Файл /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тема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1" y="1874519"/>
            <a:ext cx="12972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9383" y="1874519"/>
            <a:ext cx="1298448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9383" y="1874519"/>
            <a:ext cx="129844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Парсер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PDF·DOCX·PPTX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7" y="1874519"/>
            <a:ext cx="12972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59" y="1874519"/>
            <a:ext cx="1298448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59" y="1874519"/>
            <a:ext cx="129844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Сборка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промпта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3" y="1874519"/>
            <a:ext cx="12972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5735" y="1874519"/>
            <a:ext cx="1298448" cy="914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5" y="1874519"/>
            <a:ext cx="129844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GigaChat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19" y="1874519"/>
            <a:ext cx="12972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1" y="1874519"/>
            <a:ext cx="1298448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1" y="1874519"/>
            <a:ext cx="129844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JSON-парсинг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+ sanitizeUTF8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5" y="1874519"/>
            <a:ext cx="12972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62087" y="1874519"/>
            <a:ext cx="1298448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7" y="1874519"/>
            <a:ext cx="129844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1" y="1874519"/>
            <a:ext cx="12972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0263" y="1874519"/>
            <a:ext cx="1298448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0263" y="1874519"/>
            <a:ext cx="129844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Ссылки</a:t>
            </a:r>
          </a:p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+ QR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3847" y="1874519"/>
            <a:ext cx="12972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78439" y="1874519"/>
            <a:ext cx="1298448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39" y="1874519"/>
            <a:ext cx="129844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F172A"/>
                </a:solidFill>
                <a:latin typeface="Segoe UI"/>
              </a:rPr>
              <a:t>Статистика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246120"/>
            <a:ext cx="10424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1">
                <a:solidFill>
                  <a:srgbClr val="0F172A"/>
                </a:solidFill>
                <a:latin typeface="Segoe UI"/>
              </a:rPr>
              <a:t>Интеграция с LLM (GigaChat):</a:t>
            </a:r>
            <a:r>
              <a:rPr sz="1300" b="0">
                <a:solidFill>
                  <a:srgbClr val="334155"/>
                </a:solidFill>
                <a:latin typeface="Segoe UI"/>
              </a:rPr>
              <a:t> OAuth-токен по Authorization-Key кешируется до expires_at; вызов через REST.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1">
                <a:solidFill>
                  <a:srgbClr val="0F172A"/>
                </a:solidFill>
                <a:latin typeface="Segoe UI"/>
              </a:rPr>
              <a:t>Промпты:</a:t>
            </a:r>
            <a:r>
              <a:rPr sz="1300" b="0">
                <a:solidFill>
                  <a:srgbClr val="334155"/>
                </a:solidFill>
                <a:latin typeface="Segoe UI"/>
              </a:rPr>
              <a:t> жёсткая JSON-схема, правила для каждого типа вопроса (single / multiple / true-false), уровни сложности и таксономия Блума, учёт типичных ошибок; отдельный промпт для перегенерации одного вопроса.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1">
                <a:solidFill>
                  <a:srgbClr val="0F172A"/>
                </a:solidFill>
                <a:latin typeface="Segoe UI"/>
              </a:rPr>
              <a:t>Парсинг форматов:</a:t>
            </a:r>
            <a:r>
              <a:rPr sz="1300" b="0">
                <a:solidFill>
                  <a:srgbClr val="334155"/>
                </a:solidFill>
                <a:latin typeface="Segoe UI"/>
              </a:rPr>
              <a:t> PDF (pdfcpu), DOCX/PPTX (zip + XML), TXT/MD напрямую; лимит 10 МБ, обрезка до 6000 символов, санитайзинг UTF-8/NUL.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1">
                <a:solidFill>
                  <a:srgbClr val="0F172A"/>
                </a:solidFill>
                <a:latin typeface="Segoe UI"/>
              </a:rPr>
              <a:t>Хранение данных:</a:t>
            </a:r>
            <a:r>
              <a:rPr sz="1300" b="0">
                <a:solidFill>
                  <a:srgbClr val="334155"/>
                </a:solidFill>
                <a:latin typeface="Segoe UI"/>
              </a:rPr>
              <a:t> PostgreSQL — квизы, вопросы, сессии (session ID), ответы, метаданные, статистика и история версий.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1">
                <a:solidFill>
                  <a:srgbClr val="0F172A"/>
                </a:solidFill>
                <a:latin typeface="Segoe UI"/>
              </a:rPr>
              <a:t>Лимиты и экспорт:</a:t>
            </a:r>
            <a:r>
              <a:rPr sz="1300" b="0">
                <a:solidFill>
                  <a:srgbClr val="334155"/>
                </a:solidFill>
                <a:latin typeface="Segoe UI"/>
              </a:rPr>
              <a:t> rate-limit генераций к LLM на пользователя; вывод — персональные ссылки с session ID, полноэкранный плеер, печать, экспорт CSV/PDF.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5 ·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Технологический 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Современный, проверенный, ничего лишнего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828800"/>
          <a:ext cx="10424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04672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Слой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Технологии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Go 1.22 · Gin · golang-migrate · lib/pq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PostgreSQL 16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LLM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GigaChat (Sber) — OAuth + REST · fallback: Anthropic / OpenAI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React 18 · TypeScript · Vite · TailwindCSS · React Router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Charts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Recharts (гистограмма баллов)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QR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qrcode.react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Парсинг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pdfcpu · archive/zip + XML (DOCX / PPTX)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Авторизация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JWT (HMAC-SHA256) · middleware Auth + RateLimit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DevOps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Docker · docker-compose (multi-stage: node → go → alpine)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6 ·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Минимальная рабочая версия — уже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Что сделано · ресурсы · возможности развития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8A"/>
                </a:solidFill>
                <a:latin typeface="Segoe UI"/>
              </a:rPr>
              <a:t>Минимальная версия (готово)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6771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402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Регистрация и логин учителя (JWT)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74320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1576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Генерация квиза из текста или файла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21868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1868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91256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Настройка: сложность, тон, Блум, типы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69417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941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6674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Редактор + перегенерация вопроса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16966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96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14223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Персональные ссылки + QR-коды</a:t>
            </a:r>
          </a:p>
        </p:txBody>
      </p:sp>
      <p:sp>
        <p:nvSpPr>
          <p:cNvPr id="24" name="Oval 23"/>
          <p:cNvSpPr/>
          <p:nvPr/>
        </p:nvSpPr>
        <p:spPr>
          <a:xfrm>
            <a:off x="4206240" y="226771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26771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2402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Печать — с ключом ответов и без</a:t>
            </a:r>
          </a:p>
        </p:txBody>
      </p:sp>
      <p:sp>
        <p:nvSpPr>
          <p:cNvPr id="27" name="Oval 26"/>
          <p:cNvSpPr/>
          <p:nvPr/>
        </p:nvSpPr>
        <p:spPr>
          <a:xfrm>
            <a:off x="4206240" y="274320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27432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71576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Прохождение учеником + антишпаргалка</a:t>
            </a:r>
          </a:p>
        </p:txBody>
      </p:sp>
      <p:sp>
        <p:nvSpPr>
          <p:cNvPr id="30" name="Oval 29"/>
          <p:cNvSpPr/>
          <p:nvPr/>
        </p:nvSpPr>
        <p:spPr>
          <a:xfrm>
            <a:off x="4206240" y="321868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321868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191256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Статистика: гистограмма, таблица, разбор</a:t>
            </a:r>
          </a:p>
        </p:txBody>
      </p:sp>
      <p:sp>
        <p:nvSpPr>
          <p:cNvPr id="33" name="Oval 32"/>
          <p:cNvSpPr/>
          <p:nvPr/>
        </p:nvSpPr>
        <p:spPr>
          <a:xfrm>
            <a:off x="4206240" y="369417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36941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66674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CSV-экспорт (Excel-friendly)</a:t>
            </a:r>
          </a:p>
        </p:txBody>
      </p:sp>
      <p:sp>
        <p:nvSpPr>
          <p:cNvPr id="36" name="Oval 35"/>
          <p:cNvSpPr/>
          <p:nvPr/>
        </p:nvSpPr>
        <p:spPr>
          <a:xfrm>
            <a:off x="4206240" y="416966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41696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14223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Docker-развёртка одной командой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178308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8A"/>
                </a:solidFill>
                <a:latin typeface="Segoe UI"/>
              </a:rPr>
              <a:t>Ресурсы для MVP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2240280"/>
            <a:ext cx="3520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▍  </a:t>
            </a:r>
            <a:r>
              <a:rPr sz="1250" b="0">
                <a:solidFill>
                  <a:srgbClr val="334155"/>
                </a:solidFill>
                <a:latin typeface="Segoe UI"/>
              </a:rPr>
              <a:t>1 backend-инстанс Go + PostgreSQL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▍  </a:t>
            </a:r>
            <a:r>
              <a:rPr sz="1250" b="0">
                <a:solidFill>
                  <a:srgbClr val="334155"/>
                </a:solidFill>
                <a:latin typeface="Segoe UI"/>
              </a:rPr>
              <a:t>Ключ API </a:t>
            </a:r>
            <a:r>
              <a:rPr sz="1250" b="1">
                <a:solidFill>
                  <a:srgbClr val="0F172A"/>
                </a:solidFill>
                <a:latin typeface="Segoe UI"/>
              </a:rPr>
              <a:t>GigaChat</a:t>
            </a:r>
            <a:r>
              <a:rPr sz="1250" b="0">
                <a:solidFill>
                  <a:srgbClr val="334155"/>
                </a:solidFill>
                <a:latin typeface="Segoe UI"/>
              </a:rPr>
              <a:t> (scope PERS)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▍  </a:t>
            </a:r>
            <a:r>
              <a:rPr sz="1250" b="0">
                <a:solidFill>
                  <a:srgbClr val="334155"/>
                </a:solidFill>
                <a:latin typeface="Segoe UI"/>
              </a:rPr>
              <a:t>Любой Docker-хост (≈512 МБ RAM)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▍  </a:t>
            </a:r>
            <a:r>
              <a:rPr sz="1250" b="0">
                <a:solidFill>
                  <a:srgbClr val="334155"/>
                </a:solidFill>
                <a:latin typeface="Segoe UI"/>
              </a:rPr>
              <a:t>Команда из 4 человек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11480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8A"/>
                </a:solidFill>
                <a:latin typeface="Segoe UI"/>
              </a:rPr>
              <a:t>Возможности развития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572000"/>
            <a:ext cx="35204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▍  </a:t>
            </a:r>
            <a:r>
              <a:rPr sz="1250" b="0">
                <a:solidFill>
                  <a:srgbClr val="334155"/>
                </a:solidFill>
                <a:latin typeface="Segoe UI"/>
              </a:rPr>
              <a:t>Адаптивная сложность вопросов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▍  </a:t>
            </a:r>
            <a:r>
              <a:rPr sz="1250" b="0">
                <a:solidFill>
                  <a:srgbClr val="334155"/>
                </a:solidFill>
                <a:latin typeface="Segoe UI"/>
              </a:rPr>
              <a:t>Банк вопросов и классы/группы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▍  </a:t>
            </a:r>
            <a:r>
              <a:rPr sz="1250" b="0">
                <a:solidFill>
                  <a:srgbClr val="334155"/>
                </a:solidFill>
                <a:latin typeface="Segoe UI"/>
              </a:rPr>
              <a:t>Динамика по ученику, SSO, PWA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7 · ДОРОЖНАЯ КАРТА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От MVP до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Процесс реализации от начала до результата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874519"/>
          <a:ext cx="10424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6583680"/>
              </a:tblGrid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Этап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Срок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Результат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MVP (хакатон)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Готово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Генерация, раздача по ссылкам/QR, аналитика, антишпаргалка, Docker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Пилот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+1 месяц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Обкатка в 1 школе, банк вопросов, классы и группы, исправление багов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Бета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+3 месяца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Адаптивная сложность, динамика по ученику, SSO школьных ID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Релиз 1.0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+6 месяцев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PWA / мобильное приложение ученика, маркетплейс шаблонов квизов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097280" y="5989320"/>
            <a:ext cx="9966960" cy="457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5925312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MVP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5925312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Пилот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5925312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Бета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5925312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6126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Релиз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ШАГ 8 · РИСКИ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Риски реализации и меры нейтрализации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Что может пойти не так и как мы это закрываем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6583680"/>
              </a:tblGrid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Риск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Влияние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Мера нейтрализации</a:t>
                      </a:r>
                    </a:p>
                  </a:txBody>
                  <a:tcPr marL="137160" marR="91440" marT="54864" marB="54864">
                    <a:solidFill>
                      <a:srgbClr val="2563EB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Невалидный JSON от LLM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Высокое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Жёсткая схема промпта, strip ```json``` и висячих запятых, валидация ответа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Лимиты и стоимость API GigaChat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Среднее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Rate-limit на пользователя, кеш OAuth-токена, абстракция провайдера (fallback)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Смешение данных между учителями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Высокое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JWT + проверка пользователя в БД, изоляция сессий, приватные ссылки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Списывание учениками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Среднее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Антишпаргалка: детект вкладок, блок копипаста, счётчик нарушений на бэке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Плохой парсинг файла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Среднее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5 форматов + санитайзинг; всегда можно поправить вручную в редакторе</a:t>
                      </a:r>
                    </a:p>
                  </a:txBody>
                  <a:tcPr marL="137160" marR="91440" marT="45720" marB="45720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Слабое методическое качество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Среднее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Таксономия Блума, уровни сложности, перегенерация отдельного вопроса</a:t>
                      </a:r>
                    </a:p>
                  </a:txBody>
                  <a:tcPr marL="137160" marR="91440" marT="45720" marB="45720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Segoe UI"/>
              </a:rPr>
              <a:t>ДОП. ИНФОРМАЦИЯ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>
                <a:solidFill>
                  <a:srgbClr val="1E3A8A"/>
                </a:solidFill>
                <a:latin typeface="Segoe UI"/>
              </a:rPr>
              <a:t>Артефакты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07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Segoe UI"/>
              </a:rPr>
              <a:t>Чем хочется поделиться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8A"/>
                </a:solidFill>
                <a:latin typeface="Segoe UI"/>
              </a:rPr>
              <a:t>Ссылки на артефакты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286000"/>
            <a:ext cx="10972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🔗 Демо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7860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http://localhost:8080  (или ссылка на развёрнутый сервис)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035808"/>
            <a:ext cx="10972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3580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💻 Репозиторий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28416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github.com/&lt;team&gt;/quizgen  — README с инструкцией по запуску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785615"/>
            <a:ext cx="10972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785615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🗂 Карточка прототипа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78223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ссылка из кейса — заполнена полностью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535424"/>
            <a:ext cx="10972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53542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🎬 Скринкаст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2803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запись полного сценария (5–7 минут)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830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8A"/>
                </a:solidFill>
                <a:latin typeface="Segoe UI"/>
              </a:rPr>
              <a:t>Что отметить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286000"/>
            <a:ext cx="4023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0">
                <a:solidFill>
                  <a:srgbClr val="334155"/>
                </a:solidFill>
                <a:latin typeface="Segoe UI"/>
              </a:rPr>
              <a:t>Контейнер сам прогоняет миграции при старте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0">
                <a:solidFill>
                  <a:srgbClr val="334155"/>
                </a:solidFill>
                <a:latin typeface="Segoe UI"/>
              </a:rPr>
              <a:t>Данные изолированы, не доступны публично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0">
                <a:solidFill>
                  <a:srgbClr val="334155"/>
                </a:solidFill>
                <a:latin typeface="Segoe UI"/>
              </a:rPr>
              <a:t>Лицензия — </a:t>
            </a:r>
            <a:r>
              <a:rPr sz="1300" b="1">
                <a:solidFill>
                  <a:srgbClr val="0F172A"/>
                </a:solidFill>
                <a:latin typeface="Segoe UI"/>
              </a:rPr>
              <a:t>MIT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▍  </a:t>
            </a:r>
            <a:r>
              <a:rPr sz="1300" b="0">
                <a:solidFill>
                  <a:srgbClr val="334155"/>
                </a:solidFill>
                <a:latin typeface="Segoe UI"/>
              </a:rPr>
              <a:t>Готов к пилоту в школе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440680"/>
            <a:ext cx="10424160" cy="8686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5040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Спасибо!  QuizGen — викторины за минуту, аналитика за секунду.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1616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DBEAFE"/>
                </a:solidFill>
                <a:latin typeface="Consolas"/>
              </a:rPr>
              <a:t>docker compose up -d   →   http://localhost:8080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QuizGen · СберХакатон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